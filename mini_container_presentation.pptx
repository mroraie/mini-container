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1234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3"/>
    </mc:Choice>
    <mc:Fallback>
      <c:style val="3"/>
    </mc:Fallback>
  </mc:AlternateContent>
  <c:chart>
    <c:autoTitleDeleted val="1"/>
    <c:plotArea>
      <c:layout>
        <c:manualLayout>
          <c:layoutTarget val="inner"/>
          <c:xMode val="edge"/>
          <c:yMode val="edge"/>
          <c:x val="0.21148840769903762"/>
          <c:y val="9.5405110470412599E-2"/>
          <c:w val="0.47517145426266161"/>
          <c:h val="0.86400860988037242"/>
        </c:manualLayout>
      </c:layout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Column1</c:v>
                </c:pt>
              </c:strCache>
            </c:strRef>
          </c:tx>
          <c:explosion val="22"/>
          <c:dPt>
            <c:idx val="0"/>
            <c:bubble3D val="0"/>
            <c:explosion val="0"/>
            <c:spPr>
              <a:solidFill>
                <a:schemeClr val="accent1">
                  <a:tint val="6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1-56D9-4C75-8C96-4321AAEF2B65}"/>
              </c:ext>
            </c:extLst>
          </c:dPt>
          <c:dPt>
            <c:idx val="1"/>
            <c:bubble3D val="0"/>
            <c:explosion val="0"/>
            <c:spPr>
              <a:solidFill>
                <a:schemeClr val="accent1"/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2-56D9-4C75-8C96-4321AAEF2B65}"/>
              </c:ext>
            </c:extLst>
          </c:dPt>
          <c:dPt>
            <c:idx val="2"/>
            <c:bubble3D val="0"/>
            <c:explosion val="0"/>
            <c:spPr>
              <a:solidFill>
                <a:schemeClr val="accent1">
                  <a:shade val="65000"/>
                </a:schemeClr>
              </a:solidFill>
              <a:ln w="19050">
                <a:solidFill>
                  <a:schemeClr val="lt1"/>
                </a:solidFill>
              </a:ln>
              <a:effectLst/>
            </c:spPr>
            <c:extLst>
              <c:ext xmlns:c16="http://schemas.microsoft.com/office/drawing/2014/chart" uri="{C3380CC4-5D6E-409C-BE32-E72D297353CC}">
                <c16:uniqueId val="{00000003-56D9-4C75-8C96-4321AAEF2B65}"/>
              </c:ext>
            </c:extLst>
          </c:dPt>
          <c:cat>
            <c:numRef>
              <c:f>Sheet1!$A$2:$A$4</c:f>
              <c:numCache>
                <c:formatCode>General</c:formatCode>
                <c:ptCount val="3"/>
              </c:numCache>
            </c:num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56D9-4C75-8C96-4321AAEF2B65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1"/>
        </c:dLbls>
        <c:firstSliceAng val="0"/>
      </c:pieChart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withinLinearReversed" id="21">
  <a:schemeClr val="accent1"/>
</cs:colorStyle>
</file>

<file path=ppt/charts/style1.xml><?xml version="1.0" encoding="utf-8"?>
<cs:chartStyle xmlns:cs="http://schemas.microsoft.com/office/drawing/2012/chartStyle" xmlns:a="http://schemas.openxmlformats.org/drawingml/2006/main" id="25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  <cs:spPr>
      <a:ln w="19050">
        <a:solidFill>
          <a:schemeClr val="lt1"/>
        </a:solidFill>
      </a:ln>
    </cs:spPr>
  </cs:dataPoint>
  <cs:dataPoint3D>
    <cs:lnRef idx="0"/>
    <cs:fillRef idx="1">
      <cs:styleClr val="auto"/>
    </cs:fillRef>
    <cs:effectRef idx="0"/>
    <cs:fontRef idx="minor">
      <a:schemeClr val="tx1"/>
    </cs:fontRef>
    <cs:spPr>
      <a:ln w="25400">
        <a:solidFill>
          <a:schemeClr val="lt1"/>
        </a:solidFill>
      </a:ln>
    </cs:spPr>
  </cs:dataPoint3D>
  <cs:dataPointLine>
    <cs:lnRef idx="0">
      <cs:styleClr val="auto"/>
    </cs:lnRef>
    <cs:fillRef idx="0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FFC38DB9-C1DC-67CB-0FDF-476CD7773D9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531533"/>
            <a:ext cx="4326467" cy="4326467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2189162"/>
          </a:xfrm>
        </p:spPr>
        <p:txBody>
          <a:bodyPr>
            <a:normAutofit/>
          </a:bodyPr>
          <a:lstStyle/>
          <a:p>
            <a:r>
              <a:rPr dirty="0">
                <a:latin typeface="Dana Light" pitchFamily="2" charset="-78"/>
                <a:cs typeface="Dana Light" pitchFamily="2" charset="-78"/>
              </a:rPr>
              <a:t>Mini Container</a:t>
            </a:r>
          </a:p>
          <a:p>
            <a:r>
              <a:rPr dirty="0" err="1">
                <a:latin typeface="Dana Light" pitchFamily="2" charset="-78"/>
                <a:cs typeface="Dana Light" pitchFamily="2" charset="-78"/>
              </a:rPr>
              <a:t>پروژه</a:t>
            </a:r>
            <a:r>
              <a:rPr dirty="0">
                <a:latin typeface="Dana Light" pitchFamily="2" charset="-78"/>
                <a:cs typeface="Dana Light" pitchFamily="2" charset="-78"/>
              </a:rPr>
              <a:t>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درس</a:t>
            </a:r>
            <a:r>
              <a:rPr dirty="0">
                <a:latin typeface="Dana Light" pitchFamily="2" charset="-78"/>
                <a:cs typeface="Dana Light" pitchFamily="2" charset="-78"/>
              </a:rPr>
              <a:t>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سیستم‌های</a:t>
            </a:r>
            <a:r>
              <a:rPr dirty="0">
                <a:latin typeface="Dana Light" pitchFamily="2" charset="-78"/>
                <a:cs typeface="Dana Light" pitchFamily="2" charset="-78"/>
              </a:rPr>
              <a:t>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عامل</a:t>
            </a:r>
            <a:endParaRPr dirty="0">
              <a:latin typeface="Dana Light" pitchFamily="2" charset="-78"/>
              <a:cs typeface="Dana Light" pitchFamily="2" charset="-78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57200" y="2929467"/>
            <a:ext cx="8229600" cy="3196696"/>
          </a:xfrm>
        </p:spPr>
        <p:txBody>
          <a:bodyPr/>
          <a:lstStyle/>
          <a:p>
            <a:pPr marL="0" indent="0" algn="r" rtl="1">
              <a:buNone/>
            </a:pPr>
            <a:r>
              <a:rPr dirty="0" err="1">
                <a:latin typeface="Dana Light" pitchFamily="2" charset="-78"/>
                <a:cs typeface="Dana Light" pitchFamily="2" charset="-78"/>
              </a:rPr>
              <a:t>محمدرضا</a:t>
            </a:r>
            <a:r>
              <a:rPr dirty="0">
                <a:latin typeface="Dana Light" pitchFamily="2" charset="-78"/>
                <a:cs typeface="Dana Light" pitchFamily="2" charset="-78"/>
              </a:rPr>
              <a:t>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اورعی</a:t>
            </a:r>
            <a:endParaRPr dirty="0">
              <a:latin typeface="Dana Light" pitchFamily="2" charset="-78"/>
              <a:cs typeface="Dana Light" pitchFamily="2" charset="-78"/>
            </a:endParaRPr>
          </a:p>
          <a:p>
            <a:pPr marL="0" indent="0" algn="r" rtl="1">
              <a:buNone/>
            </a:pPr>
            <a:r>
              <a:rPr dirty="0" err="1">
                <a:latin typeface="Dana Light" pitchFamily="2" charset="-78"/>
                <a:cs typeface="Dana Light" pitchFamily="2" charset="-78"/>
              </a:rPr>
              <a:t>ترم</a:t>
            </a:r>
            <a:r>
              <a:rPr dirty="0">
                <a:latin typeface="Dana Light" pitchFamily="2" charset="-78"/>
                <a:cs typeface="Dana Light" pitchFamily="2" charset="-78"/>
              </a:rPr>
              <a:t> 4041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 err="1">
                <a:latin typeface="Dana Light" pitchFamily="2" charset="-78"/>
                <a:cs typeface="Dana Light" pitchFamily="2" charset="-78"/>
              </a:rPr>
              <a:t>هدف</a:t>
            </a:r>
            <a:r>
              <a:rPr dirty="0">
                <a:latin typeface="Dana Light" pitchFamily="2" charset="-78"/>
                <a:cs typeface="Dana Light" pitchFamily="2" charset="-78"/>
              </a:rPr>
              <a:t>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پروژه</a:t>
            </a:r>
            <a:endParaRPr dirty="0">
              <a:latin typeface="Dana Light" pitchFamily="2" charset="-78"/>
              <a:cs typeface="Dana Light" pitchFamily="2" charset="-78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r" rtl="1">
              <a:buNone/>
            </a:pPr>
            <a:r>
              <a:rPr dirty="0" err="1">
                <a:latin typeface="Dana Light" pitchFamily="2" charset="-78"/>
                <a:cs typeface="Dana Light" pitchFamily="2" charset="-78"/>
              </a:rPr>
              <a:t>آشنایی</a:t>
            </a:r>
            <a:r>
              <a:rPr dirty="0">
                <a:latin typeface="Dana Light" pitchFamily="2" charset="-78"/>
                <a:cs typeface="Dana Light" pitchFamily="2" charset="-78"/>
              </a:rPr>
              <a:t>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عملی</a:t>
            </a:r>
            <a:r>
              <a:rPr dirty="0">
                <a:latin typeface="Dana Light" pitchFamily="2" charset="-78"/>
                <a:cs typeface="Dana Light" pitchFamily="2" charset="-78"/>
              </a:rPr>
              <a:t>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با</a:t>
            </a:r>
            <a:r>
              <a:rPr dirty="0">
                <a:latin typeface="Dana Light" pitchFamily="2" charset="-78"/>
                <a:cs typeface="Dana Light" pitchFamily="2" charset="-78"/>
              </a:rPr>
              <a:t>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مفاهیم</a:t>
            </a:r>
            <a:r>
              <a:rPr dirty="0">
                <a:latin typeface="Dana Light" pitchFamily="2" charset="-78"/>
                <a:cs typeface="Dana Light" pitchFamily="2" charset="-78"/>
              </a:rPr>
              <a:t>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سیستم‌عامل</a:t>
            </a:r>
            <a:r>
              <a:rPr dirty="0">
                <a:latin typeface="Dana Light" pitchFamily="2" charset="-78"/>
                <a:cs typeface="Dana Light" pitchFamily="2" charset="-78"/>
              </a:rPr>
              <a:t>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مانند</a:t>
            </a:r>
            <a:r>
              <a:rPr dirty="0">
                <a:latin typeface="Dana Light" pitchFamily="2" charset="-78"/>
                <a:cs typeface="Dana Light" pitchFamily="2" charset="-78"/>
              </a:rPr>
              <a:t>:</a:t>
            </a:r>
          </a:p>
          <a:p>
            <a:pPr marL="0" indent="0" algn="r" rtl="1">
              <a:buNone/>
            </a:pPr>
            <a:r>
              <a:rPr dirty="0">
                <a:latin typeface="Dana Light" pitchFamily="2" charset="-78"/>
                <a:cs typeface="Dana Light" pitchFamily="2" charset="-78"/>
              </a:rPr>
              <a:t>•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ایزولاسیون</a:t>
            </a:r>
            <a:r>
              <a:rPr dirty="0">
                <a:latin typeface="Dana Light" pitchFamily="2" charset="-78"/>
                <a:cs typeface="Dana Light" pitchFamily="2" charset="-78"/>
              </a:rPr>
              <a:t>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فرایند</a:t>
            </a:r>
            <a:endParaRPr dirty="0">
              <a:latin typeface="Dana Light" pitchFamily="2" charset="-78"/>
              <a:cs typeface="Dana Light" pitchFamily="2" charset="-78"/>
            </a:endParaRPr>
          </a:p>
          <a:p>
            <a:pPr marL="0" indent="0" algn="r" rtl="1">
              <a:buNone/>
            </a:pPr>
            <a:r>
              <a:rPr dirty="0">
                <a:latin typeface="Dana Light" pitchFamily="2" charset="-78"/>
                <a:cs typeface="Dana Light" pitchFamily="2" charset="-78"/>
              </a:rPr>
              <a:t>•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مدیریت</a:t>
            </a:r>
            <a:r>
              <a:rPr dirty="0">
                <a:latin typeface="Dana Light" pitchFamily="2" charset="-78"/>
                <a:cs typeface="Dana Light" pitchFamily="2" charset="-78"/>
              </a:rPr>
              <a:t>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منابع</a:t>
            </a:r>
            <a:endParaRPr dirty="0">
              <a:latin typeface="Dana Light" pitchFamily="2" charset="-78"/>
              <a:cs typeface="Dana Light" pitchFamily="2" charset="-78"/>
            </a:endParaRPr>
          </a:p>
          <a:p>
            <a:pPr marL="0" indent="0" algn="r" rtl="1">
              <a:buNone/>
            </a:pPr>
            <a:r>
              <a:rPr dirty="0">
                <a:latin typeface="Dana Light" pitchFamily="2" charset="-78"/>
                <a:cs typeface="Dana Light" pitchFamily="2" charset="-78"/>
              </a:rPr>
              <a:t>•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امنیت</a:t>
            </a:r>
            <a:r>
              <a:rPr dirty="0">
                <a:latin typeface="Dana Light" pitchFamily="2" charset="-78"/>
                <a:cs typeface="Dana Light" pitchFamily="2" charset="-78"/>
              </a:rPr>
              <a:t>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فایل‌سیستم</a:t>
            </a:r>
            <a:endParaRPr dirty="0">
              <a:latin typeface="Dana Light" pitchFamily="2" charset="-78"/>
              <a:cs typeface="Dana Light" pitchFamily="2" charset="-78"/>
            </a:endParaRPr>
          </a:p>
          <a:p>
            <a:pPr marL="0" indent="0" algn="r" rtl="1">
              <a:buNone/>
            </a:pPr>
            <a:r>
              <a:rPr dirty="0">
                <a:latin typeface="Dana Light" pitchFamily="2" charset="-78"/>
                <a:cs typeface="Dana Light" pitchFamily="2" charset="-78"/>
              </a:rPr>
              <a:t>•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تعامل</a:t>
            </a:r>
            <a:r>
              <a:rPr dirty="0">
                <a:latin typeface="Dana Light" pitchFamily="2" charset="-78"/>
                <a:cs typeface="Dana Light" pitchFamily="2" charset="-78"/>
              </a:rPr>
              <a:t>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مستقیم</a:t>
            </a:r>
            <a:r>
              <a:rPr dirty="0">
                <a:latin typeface="Dana Light" pitchFamily="2" charset="-78"/>
                <a:cs typeface="Dana Light" pitchFamily="2" charset="-78"/>
              </a:rPr>
              <a:t>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با</a:t>
            </a:r>
            <a:r>
              <a:rPr dirty="0">
                <a:latin typeface="Dana Light" pitchFamily="2" charset="-78"/>
                <a:cs typeface="Dana Light" pitchFamily="2" charset="-78"/>
              </a:rPr>
              <a:t>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هسته</a:t>
            </a:r>
            <a:r>
              <a:rPr dirty="0">
                <a:latin typeface="Dana Light" pitchFamily="2" charset="-78"/>
                <a:cs typeface="Dana Light" pitchFamily="2" charset="-78"/>
              </a:rPr>
              <a:t> </a:t>
            </a:r>
            <a:r>
              <a:rPr dirty="0" err="1">
                <a:latin typeface="Dana Light" pitchFamily="2" charset="-78"/>
                <a:cs typeface="Dana Light" pitchFamily="2" charset="-78"/>
              </a:rPr>
              <a:t>لینوکس</a:t>
            </a:r>
            <a:endParaRPr dirty="0">
              <a:latin typeface="Dana Light" pitchFamily="2" charset="-78"/>
              <a:cs typeface="Dana Light" pitchFamily="2" charset="-78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Content Placeholder 5">
            <a:extLst>
              <a:ext uri="{FF2B5EF4-FFF2-40B4-BE49-F238E27FC236}">
                <a16:creationId xmlns:a16="http://schemas.microsoft.com/office/drawing/2014/main" id="{F7F59E43-1061-B233-E777-923A012BBDF0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635727346"/>
              </p:ext>
            </p:extLst>
          </p:nvPr>
        </p:nvGraphicFramePr>
        <p:xfrm>
          <a:off x="-1190799" y="-508000"/>
          <a:ext cx="12683066" cy="799253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itle 1">
            <a:extLst>
              <a:ext uri="{FF2B5EF4-FFF2-40B4-BE49-F238E27FC236}">
                <a16:creationId xmlns:a16="http://schemas.microsoft.com/office/drawing/2014/main" id="{78FA6846-E91F-B854-35AF-FC1277D84F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82183" y="1253034"/>
            <a:ext cx="3721370" cy="1143000"/>
          </a:xfrm>
        </p:spPr>
        <p:txBody>
          <a:bodyPr>
            <a:normAutofit/>
          </a:bodyPr>
          <a:lstStyle/>
          <a:p>
            <a:r>
              <a:rPr lang="en-US" sz="3600" dirty="0">
                <a:latin typeface="Dana Light" pitchFamily="2" charset="-78"/>
                <a:cs typeface="Dana Light" pitchFamily="2" charset="-78"/>
              </a:rPr>
              <a:t>Name space</a:t>
            </a:r>
            <a:endParaRPr sz="3600" dirty="0">
              <a:latin typeface="Dana Light" pitchFamily="2" charset="-78"/>
              <a:cs typeface="Dana Light" pitchFamily="2" charset="-78"/>
            </a:endParaRP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09F28BAC-4B17-2CA0-E342-41630F4A2E0A}"/>
              </a:ext>
            </a:extLst>
          </p:cNvPr>
          <p:cNvSpPr txBox="1">
            <a:spLocks/>
          </p:cNvSpPr>
          <p:nvPr/>
        </p:nvSpPr>
        <p:spPr>
          <a:xfrm>
            <a:off x="-174048" y="1221464"/>
            <a:ext cx="3335867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latin typeface="Dana Light" pitchFamily="2" charset="-78"/>
                <a:cs typeface="Dana Light" pitchFamily="2" charset="-78"/>
              </a:rPr>
              <a:t>File system</a:t>
            </a:r>
          </a:p>
        </p:txBody>
      </p:sp>
      <p:sp>
        <p:nvSpPr>
          <p:cNvPr id="9" name="Title 1">
            <a:extLst>
              <a:ext uri="{FF2B5EF4-FFF2-40B4-BE49-F238E27FC236}">
                <a16:creationId xmlns:a16="http://schemas.microsoft.com/office/drawing/2014/main" id="{B4459877-C091-3F44-36E8-6160A446FC3F}"/>
              </a:ext>
            </a:extLst>
          </p:cNvPr>
          <p:cNvSpPr txBox="1">
            <a:spLocks/>
          </p:cNvSpPr>
          <p:nvPr/>
        </p:nvSpPr>
        <p:spPr>
          <a:xfrm>
            <a:off x="2711315" y="5989009"/>
            <a:ext cx="372137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 defTabSz="4572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3600" dirty="0">
                <a:latin typeface="Dana Light" pitchFamily="2" charset="-78"/>
                <a:cs typeface="Dana Light" pitchFamily="2" charset="-78"/>
              </a:rPr>
              <a:t>Resource</a:t>
            </a:r>
          </a:p>
        </p:txBody>
      </p:sp>
    </p:spTree>
    <p:extLst>
      <p:ext uri="{BB962C8B-B14F-4D97-AF65-F5344CB8AC3E}">
        <p14:creationId xmlns:p14="http://schemas.microsoft.com/office/powerpoint/2010/main" val="17386426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09C26-D6F4-9E12-EBEF-42C062C1ABA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Container manager - State Base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ECE378A-AC8D-16EE-B632-DBF2D34B516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0" y="1603094"/>
            <a:ext cx="8229600" cy="4525963"/>
          </a:xfrm>
        </p:spPr>
        <p:txBody>
          <a:bodyPr/>
          <a:lstStyle/>
          <a:p>
            <a:pPr marL="0" indent="0">
              <a:buNone/>
            </a:pPr>
            <a:r>
              <a:rPr lang="en-US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    CREATED</a:t>
            </a:r>
          </a:p>
          <a:p>
            <a:pPr marL="0" indent="0">
              <a:buNone/>
            </a:pPr>
            <a:endParaRPr lang="en-US" b="0" dirty="0">
              <a:solidFill>
                <a:srgbClr val="0070C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    RUNNING</a:t>
            </a:r>
          </a:p>
          <a:p>
            <a:pPr marL="0" indent="0">
              <a:buNone/>
            </a:pPr>
            <a:endParaRPr lang="en-US" b="0" dirty="0">
              <a:solidFill>
                <a:srgbClr val="0070C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    STOPPED</a:t>
            </a:r>
          </a:p>
          <a:p>
            <a:pPr marL="0" indent="0">
              <a:buNone/>
            </a:pPr>
            <a:endParaRPr lang="en-US" b="0" dirty="0">
              <a:solidFill>
                <a:srgbClr val="0070C0"/>
              </a:solidFill>
              <a:effectLst/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b="0" dirty="0">
                <a:solidFill>
                  <a:srgbClr val="0070C0"/>
                </a:solidFill>
                <a:effectLst/>
                <a:latin typeface="Consolas" panose="020B0609020204030204" pitchFamily="49" charset="0"/>
              </a:rPr>
              <a:t>    DESTROYED</a:t>
            </a:r>
          </a:p>
          <a:p>
            <a:endParaRPr lang="en-US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3460479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B4B8B4-8FC8-664C-6F10-6CCEC3E1D68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Dana Light" pitchFamily="2" charset="-78"/>
                <a:cs typeface="Dana Light" pitchFamily="2" charset="-78"/>
              </a:rPr>
              <a:t>End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7009606-296F-971E-B563-49A73918B2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96481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53</Words>
  <Application>Microsoft Office PowerPoint</Application>
  <PresentationFormat>On-screen Show (4:3)</PresentationFormat>
  <Paragraphs>22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10" baseType="lpstr">
      <vt:lpstr>Arial</vt:lpstr>
      <vt:lpstr>Calibri</vt:lpstr>
      <vt:lpstr>Consolas</vt:lpstr>
      <vt:lpstr>Dana Light</vt:lpstr>
      <vt:lpstr>Office Theme</vt:lpstr>
      <vt:lpstr>Mini Container پروژه درس سیستم‌های عامل</vt:lpstr>
      <vt:lpstr>هدف پروژه</vt:lpstr>
      <vt:lpstr>Name space</vt:lpstr>
      <vt:lpstr>Container manager - State Base</vt:lpstr>
      <vt:lpstr>End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mohi oraie</cp:lastModifiedBy>
  <cp:revision>2</cp:revision>
  <dcterms:created xsi:type="dcterms:W3CDTF">2013-01-27T09:14:16Z</dcterms:created>
  <dcterms:modified xsi:type="dcterms:W3CDTF">2026-01-23T21:43:16Z</dcterms:modified>
  <cp:category/>
</cp:coreProperties>
</file>